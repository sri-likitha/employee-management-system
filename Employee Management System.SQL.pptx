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5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2" r:id="rId18"/>
    <p:sldId id="283" r:id="rId19"/>
    <p:sldId id="284" r:id="rId20"/>
    <p:sldId id="285" r:id="rId21"/>
    <p:sldId id="287" r:id="rId22"/>
    <p:sldId id="288" r:id="rId23"/>
    <p:sldId id="289" r:id="rId24"/>
    <p:sldId id="290" r:id="rId25"/>
    <p:sldId id="292" r:id="rId26"/>
    <p:sldId id="293" r:id="rId27"/>
    <p:sldId id="291" r:id="rId28"/>
    <p:sldId id="259" r:id="rId29"/>
  </p:sldIdLst>
  <p:sldSz cx="12192000" cy="6858000"/>
  <p:notesSz cx="6858000" cy="9144000"/>
  <p:embeddedFontLst>
    <p:embeddedFont>
      <p:font typeface="Lato Black" panose="020F0502020204030203" pitchFamily="34" charset="0"/>
      <p:bold r:id="rId31"/>
      <p:boldItalic r:id="rId32"/>
    </p:embeddedFont>
    <p:embeddedFont>
      <p:font typeface="Libre Baskerville" panose="02000000000000000000" pitchFamily="2" charset="0"/>
      <p:regular r:id="rId33"/>
      <p:bold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28067-F7C9-4C26-B220-C28125E8CA90}" v="126" dt="2025-10-11T08:12:26.5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1185" y="-399862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21987" y="2512910"/>
            <a:ext cx="831555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Project on SQL</a:t>
            </a:r>
            <a:br>
              <a:rPr lang="en-IN" sz="4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400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Employee Management System</a:t>
            </a:r>
            <a:endParaRPr sz="4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764EA9-E3B5-CA38-08B7-17AECC58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030" y="4724055"/>
            <a:ext cx="5258382" cy="1325563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Dimpul Chandrika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Nityala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 Likitha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A. Akhila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4075-E6C4-3F4C-BF0D-5A7B67BD9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6456B-21B0-F7DD-4EC7-CDF5B18D0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12DDC-DE26-0F07-8587-C6FBBBA49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4" y="898358"/>
            <a:ext cx="11297265" cy="503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9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54376" y="1494844"/>
            <a:ext cx="10847635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database-based project designed to store, manage, and organize employee information efficiently.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organizations maintain accurate employee records, monitor attendance, manage departments and job roles, and process salaries.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1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reduces manual work, avoids data duplication, and provides quick access to information through SQL queries.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centralizing employee data, it improves HR operations, enhances decision-making, and increases overall organizational productivity.</a:t>
            </a:r>
          </a:p>
        </p:txBody>
      </p:sp>
      <p:sp>
        <p:nvSpPr>
          <p:cNvPr id="105" name="Google Shape;105;p3"/>
          <p:cNvSpPr txBox="1"/>
          <p:nvPr/>
        </p:nvSpPr>
        <p:spPr>
          <a:xfrm>
            <a:off x="4010526" y="296499"/>
            <a:ext cx="340092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Introduction</a:t>
            </a:r>
            <a:endParaRPr sz="44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84115-9CD4-2B84-C0DA-442979E755B8}"/>
              </a:ext>
            </a:extLst>
          </p:cNvPr>
          <p:cNvSpPr txBox="1"/>
          <p:nvPr/>
        </p:nvSpPr>
        <p:spPr>
          <a:xfrm>
            <a:off x="961102" y="3791164"/>
            <a:ext cx="10434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1D7A-273C-36F8-CCFE-21FFAB3A5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5369" y="88490"/>
            <a:ext cx="8475406" cy="786581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BA25D-4855-EF29-C977-98B223AA5A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6" t="10387" r="1016"/>
          <a:stretch>
            <a:fillRect/>
          </a:stretch>
        </p:blipFill>
        <p:spPr>
          <a:xfrm>
            <a:off x="5634917" y="1722197"/>
            <a:ext cx="5983707" cy="2085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8FCC48-2A4A-2F98-D3C8-BBC1F18C18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32" t="1897"/>
          <a:stretch>
            <a:fillRect/>
          </a:stretch>
        </p:blipFill>
        <p:spPr>
          <a:xfrm>
            <a:off x="344130" y="1681316"/>
            <a:ext cx="4958563" cy="21672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B5E331-D2D4-7E79-85BA-E9F713D72805}"/>
              </a:ext>
            </a:extLst>
          </p:cNvPr>
          <p:cNvSpPr txBox="1"/>
          <p:nvPr/>
        </p:nvSpPr>
        <p:spPr>
          <a:xfrm>
            <a:off x="1505370" y="1221987"/>
            <a:ext cx="1709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Employe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Table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96C77-BA20-B55E-C76A-958F7AEF950F}"/>
              </a:ext>
            </a:extLst>
          </p:cNvPr>
          <p:cNvSpPr txBox="1"/>
          <p:nvPr/>
        </p:nvSpPr>
        <p:spPr>
          <a:xfrm>
            <a:off x="7393858" y="1254666"/>
            <a:ext cx="1799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Table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DC171E-F938-28C9-25EF-8A9C0C2ABD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91"/>
          <a:stretch>
            <a:fillRect/>
          </a:stretch>
        </p:blipFill>
        <p:spPr>
          <a:xfrm>
            <a:off x="2133600" y="4905415"/>
            <a:ext cx="6405725" cy="1629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0D77BC-5B47-62D4-EE3C-28DE7F7C48DB}"/>
              </a:ext>
            </a:extLst>
          </p:cNvPr>
          <p:cNvSpPr txBox="1"/>
          <p:nvPr/>
        </p:nvSpPr>
        <p:spPr>
          <a:xfrm>
            <a:off x="3873910" y="4500909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department Table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33926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E799-66AA-C4D1-8B60-3A836DE12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1445342" y="0"/>
            <a:ext cx="9144000" cy="81756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4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CE87B-A06A-C66F-3A93-2A6EC2C2C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1" b="18179"/>
          <a:stretch>
            <a:fillRect/>
          </a:stretch>
        </p:blipFill>
        <p:spPr>
          <a:xfrm>
            <a:off x="580103" y="1499170"/>
            <a:ext cx="4827639" cy="1371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7EF8C5-2BDF-B8AA-7AE3-92C79D02E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55"/>
          <a:stretch>
            <a:fillRect/>
          </a:stretch>
        </p:blipFill>
        <p:spPr>
          <a:xfrm>
            <a:off x="6096000" y="1499170"/>
            <a:ext cx="5034116" cy="2067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3E3E5A-BB78-014E-A413-048131EAFF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83" b="9430"/>
          <a:stretch>
            <a:fillRect/>
          </a:stretch>
        </p:blipFill>
        <p:spPr>
          <a:xfrm>
            <a:off x="580103" y="4397984"/>
            <a:ext cx="4581832" cy="14939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6DE490-BB6C-138C-E5B4-D910BAA187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73"/>
          <a:stretch>
            <a:fillRect/>
          </a:stretch>
        </p:blipFill>
        <p:spPr>
          <a:xfrm>
            <a:off x="5850192" y="4397983"/>
            <a:ext cx="5761705" cy="15623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254C57-4D56-2F5C-32EC-CA1BECF81EE5}"/>
              </a:ext>
            </a:extLst>
          </p:cNvPr>
          <p:cNvSpPr txBox="1"/>
          <p:nvPr/>
        </p:nvSpPr>
        <p:spPr>
          <a:xfrm>
            <a:off x="1651819" y="1073215"/>
            <a:ext cx="1897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Table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0BD0F-A5C2-CD93-950D-8A4D573D7C1D}"/>
              </a:ext>
            </a:extLst>
          </p:cNvPr>
          <p:cNvSpPr txBox="1"/>
          <p:nvPr/>
        </p:nvSpPr>
        <p:spPr>
          <a:xfrm>
            <a:off x="7924408" y="1088420"/>
            <a:ext cx="1377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Table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D5404-ED5D-B23A-5CB1-2CCAA288D449}"/>
              </a:ext>
            </a:extLst>
          </p:cNvPr>
          <p:cNvSpPr txBox="1"/>
          <p:nvPr/>
        </p:nvSpPr>
        <p:spPr>
          <a:xfrm>
            <a:off x="1771360" y="4022948"/>
            <a:ext cx="18934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 Table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58D0A6-2E16-755E-F049-4B057692112A}"/>
              </a:ext>
            </a:extLst>
          </p:cNvPr>
          <p:cNvSpPr txBox="1"/>
          <p:nvPr/>
        </p:nvSpPr>
        <p:spPr>
          <a:xfrm>
            <a:off x="7853563" y="4036919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Salarybonus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8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CC39-844D-23F1-1886-BC524B1F7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483"/>
            <a:ext cx="8927690" cy="86523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IN"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9BB7326-3338-CEB5-5B27-B38F0E56B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475" y="1194987"/>
            <a:ext cx="9079049" cy="50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19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7140-A6CE-52CA-A219-DB9C38299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1524000" y="403123"/>
            <a:ext cx="9144000" cy="7192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40C9DD-9B11-1B56-70A4-03A5E47311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1" y="1647301"/>
            <a:ext cx="993058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employee data is time-consuming and prone to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attendance and maintaining salary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data leads to duplication and inconsistency.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and performance analysis take extra effort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SQL-based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manage employee records efficiently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282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E40209-11A4-CB38-533D-97C4DDC86695}"/>
              </a:ext>
            </a:extLst>
          </p:cNvPr>
          <p:cNvSpPr txBox="1"/>
          <p:nvPr/>
        </p:nvSpPr>
        <p:spPr>
          <a:xfrm>
            <a:off x="3760581" y="511794"/>
            <a:ext cx="6760184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How many unique employees are currently in the system?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9A684-2B4A-8599-C10E-A912161ED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4" t="53506" r="3187"/>
          <a:stretch>
            <a:fillRect/>
          </a:stretch>
        </p:blipFill>
        <p:spPr>
          <a:xfrm>
            <a:off x="796412" y="1641987"/>
            <a:ext cx="5732207" cy="13863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5C688E-5830-DADE-6646-F1A247742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02" r="24410" b="31698"/>
          <a:stretch>
            <a:fillRect/>
          </a:stretch>
        </p:blipFill>
        <p:spPr>
          <a:xfrm>
            <a:off x="7140673" y="3429000"/>
            <a:ext cx="3165987" cy="1231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CC023-C809-6A67-0F82-FBB70BFAED1A}"/>
              </a:ext>
            </a:extLst>
          </p:cNvPr>
          <p:cNvSpPr txBox="1"/>
          <p:nvPr/>
        </p:nvSpPr>
        <p:spPr>
          <a:xfrm>
            <a:off x="7140673" y="3028890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46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4BCCC2-4760-B0EB-6220-EC18E5E14D03}"/>
              </a:ext>
            </a:extLst>
          </p:cNvPr>
          <p:cNvSpPr txBox="1"/>
          <p:nvPr/>
        </p:nvSpPr>
        <p:spPr>
          <a:xfrm>
            <a:off x="3726426" y="619433"/>
            <a:ext cx="6302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2.Which departments have the highest number of employees?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4899E0-6FA2-F0E1-449D-FF8C96440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2"/>
          <a:stretch>
            <a:fillRect/>
          </a:stretch>
        </p:blipFill>
        <p:spPr>
          <a:xfrm>
            <a:off x="822293" y="1750141"/>
            <a:ext cx="5591955" cy="2728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05B98D-6B50-44D5-91F8-9B492E8A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665" y="3706840"/>
            <a:ext cx="3942735" cy="1346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CE6D23-8564-120A-4508-7D5A61961E2D}"/>
              </a:ext>
            </a:extLst>
          </p:cNvPr>
          <p:cNvSpPr txBox="1"/>
          <p:nvPr/>
        </p:nvSpPr>
        <p:spPr>
          <a:xfrm>
            <a:off x="6759678" y="3244334"/>
            <a:ext cx="208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3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35DCBB-7154-B0C0-3195-C46E4446FDBC}"/>
              </a:ext>
            </a:extLst>
          </p:cNvPr>
          <p:cNvSpPr txBox="1"/>
          <p:nvPr/>
        </p:nvSpPr>
        <p:spPr>
          <a:xfrm>
            <a:off x="3859938" y="646342"/>
            <a:ext cx="672164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3.What is the average salary per department?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73DCB-E966-5CC1-055A-DC4C02B81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0"/>
          <a:stretch>
            <a:fillRect/>
          </a:stretch>
        </p:blipFill>
        <p:spPr>
          <a:xfrm>
            <a:off x="1299448" y="1494148"/>
            <a:ext cx="5120979" cy="288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3B7E42-5E9B-A863-605F-0B4FDC51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018" y="3890203"/>
            <a:ext cx="4887007" cy="2086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B98F43-AAB5-746A-030B-CC1E4E23B8FF}"/>
              </a:ext>
            </a:extLst>
          </p:cNvPr>
          <p:cNvSpPr txBox="1"/>
          <p:nvPr/>
        </p:nvSpPr>
        <p:spPr>
          <a:xfrm>
            <a:off x="6687600" y="3313471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92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016E26-A852-30F5-24AA-62C303598BFB}"/>
              </a:ext>
            </a:extLst>
          </p:cNvPr>
          <p:cNvSpPr txBox="1"/>
          <p:nvPr/>
        </p:nvSpPr>
        <p:spPr>
          <a:xfrm>
            <a:off x="3967315" y="467033"/>
            <a:ext cx="63073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4.Who are the top 5 highest-paid employees?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87BF4-0A7B-7DA0-E95D-106FD4BCA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168" y="1433624"/>
            <a:ext cx="4782217" cy="2791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30AA8E-452C-EDCB-C35C-107A52F5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9"/>
          <a:stretch>
            <a:fillRect/>
          </a:stretch>
        </p:blipFill>
        <p:spPr>
          <a:xfrm>
            <a:off x="6322141" y="4133430"/>
            <a:ext cx="4549271" cy="1619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B0CCAB-254C-3BC3-4AC3-3E9F462EC3B3}"/>
              </a:ext>
            </a:extLst>
          </p:cNvPr>
          <p:cNvSpPr txBox="1"/>
          <p:nvPr/>
        </p:nvSpPr>
        <p:spPr>
          <a:xfrm>
            <a:off x="6322141" y="3588774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9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C197DB-82D2-7B57-8499-7701FC4074D9}"/>
              </a:ext>
            </a:extLst>
          </p:cNvPr>
          <p:cNvSpPr txBox="1"/>
          <p:nvPr/>
        </p:nvSpPr>
        <p:spPr>
          <a:xfrm>
            <a:off x="3510117" y="589937"/>
            <a:ext cx="697106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5.What is the total salary expenditure across the company?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635BE0-511A-4B21-84F3-F610D4B95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" y="1821043"/>
            <a:ext cx="6042373" cy="1673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86EDF8-3439-70DB-9C6B-AA4655F5A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251" y="4106073"/>
            <a:ext cx="3726425" cy="93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45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43F5C-F42C-B271-0F9E-E8B830E36932}"/>
              </a:ext>
            </a:extLst>
          </p:cNvPr>
          <p:cNvSpPr txBox="1"/>
          <p:nvPr/>
        </p:nvSpPr>
        <p:spPr>
          <a:xfrm>
            <a:off x="4188542" y="619432"/>
            <a:ext cx="5846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6.How many different job roles exist in each department?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28248-7988-3423-8C06-EEF9ECD33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48" y="1616720"/>
            <a:ext cx="5087060" cy="1028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6208E4-74D9-25A4-AFE3-7141A66A2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30" y="2737075"/>
            <a:ext cx="210531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64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71430B-F72F-FBF1-2F8A-8E627EE23820}"/>
              </a:ext>
            </a:extLst>
          </p:cNvPr>
          <p:cNvSpPr txBox="1"/>
          <p:nvPr/>
        </p:nvSpPr>
        <p:spPr>
          <a:xfrm>
            <a:off x="4542503" y="639097"/>
            <a:ext cx="5314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7.What is the average salary range per department?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C73A94-316E-4F87-9681-C503951D5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09" y="1338404"/>
            <a:ext cx="10659963" cy="2372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03951F-83B5-E3F3-8B78-BFCFB26A8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10460"/>
            <a:ext cx="2534004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04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4DC9-CEEB-C412-B105-A59470087442}"/>
              </a:ext>
            </a:extLst>
          </p:cNvPr>
          <p:cNvSpPr txBox="1"/>
          <p:nvPr/>
        </p:nvSpPr>
        <p:spPr>
          <a:xfrm>
            <a:off x="5201265" y="580104"/>
            <a:ext cx="435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8.Which job roles offer the highest salary?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CBA3A1-9D48-122F-72AF-052D522C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25" y="1942892"/>
            <a:ext cx="4182059" cy="2972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307305-739C-9ECE-7698-B200F9CDB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812" y="4067263"/>
            <a:ext cx="4039164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29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7AD14D-87D7-D98E-D378-76FA8A1867F3}"/>
              </a:ext>
            </a:extLst>
          </p:cNvPr>
          <p:cNvSpPr txBox="1"/>
          <p:nvPr/>
        </p:nvSpPr>
        <p:spPr>
          <a:xfrm>
            <a:off x="3470788" y="601035"/>
            <a:ext cx="626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9.Which departments have the highest total salary allocation?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CD6687-F66A-483F-F219-C8F56C55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28" y="1806681"/>
            <a:ext cx="4610743" cy="21434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FC164D-D4FE-0A71-EA37-CEA9A7067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267" y="3950105"/>
            <a:ext cx="4582164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60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EE0B1-AC66-8292-F5B7-E53465BA4093}"/>
              </a:ext>
            </a:extLst>
          </p:cNvPr>
          <p:cNvSpPr txBox="1"/>
          <p:nvPr/>
        </p:nvSpPr>
        <p:spPr>
          <a:xfrm>
            <a:off x="3749023" y="747251"/>
            <a:ext cx="5468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10.Which year had the most employees taking leaves?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C89082-B328-62C8-32F0-A9608CA71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12" y="1653188"/>
            <a:ext cx="4305901" cy="2172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3403F-1F31-13C8-C1B0-C59954EF8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971" y="4369420"/>
            <a:ext cx="351521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5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69EDBE-B619-BCF6-07C1-B2A36CAAD8B9}"/>
              </a:ext>
            </a:extLst>
          </p:cNvPr>
          <p:cNvSpPr txBox="1"/>
          <p:nvPr/>
        </p:nvSpPr>
        <p:spPr>
          <a:xfrm>
            <a:off x="2429643" y="333697"/>
            <a:ext cx="8571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11.What is the average number of leave days taken by its employees per department?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275DB8-A72D-51EF-2BFF-F7D89AF9E7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10"/>
          <a:stretch>
            <a:fillRect/>
          </a:stretch>
        </p:blipFill>
        <p:spPr>
          <a:xfrm>
            <a:off x="609612" y="856150"/>
            <a:ext cx="6105820" cy="5062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67F8EA-CFE0-ED1D-B580-AE948B232E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2"/>
          <a:stretch>
            <a:fillRect/>
          </a:stretch>
        </p:blipFill>
        <p:spPr>
          <a:xfrm>
            <a:off x="7816644" y="3671751"/>
            <a:ext cx="286139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68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59F7DC-CFB4-AFAE-5C40-F1FDDB43E4AF}"/>
              </a:ext>
            </a:extLst>
          </p:cNvPr>
          <p:cNvSpPr txBox="1"/>
          <p:nvPr/>
        </p:nvSpPr>
        <p:spPr>
          <a:xfrm>
            <a:off x="1227521" y="353961"/>
            <a:ext cx="4987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12.Which employees have taken the most leaves?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1EA0A-E368-D206-DBEF-7921AE173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36" y="1858248"/>
            <a:ext cx="5287113" cy="2905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0A2300-D63E-3153-C629-D1C9FB31B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151" y="1251674"/>
            <a:ext cx="2476846" cy="498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80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4D4C6F-6D09-A71E-3B68-60BF411195E4}"/>
              </a:ext>
            </a:extLst>
          </p:cNvPr>
          <p:cNvSpPr txBox="1"/>
          <p:nvPr/>
        </p:nvSpPr>
        <p:spPr>
          <a:xfrm>
            <a:off x="835741" y="592009"/>
            <a:ext cx="7173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13.What is the total number of leave days taken company-wide?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EC94C-A2C5-9BB0-9C9C-81FD54947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79" y="1751660"/>
            <a:ext cx="7729414" cy="529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7129BA-D368-13D9-DACA-48AE0A6F3F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60" r="23749"/>
          <a:stretch>
            <a:fillRect/>
          </a:stretch>
        </p:blipFill>
        <p:spPr>
          <a:xfrm>
            <a:off x="7659329" y="3429000"/>
            <a:ext cx="2202425" cy="103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3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33BF85-0C87-0A5D-D660-BC0559166DC1}"/>
              </a:ext>
            </a:extLst>
          </p:cNvPr>
          <p:cNvSpPr txBox="1"/>
          <p:nvPr/>
        </p:nvSpPr>
        <p:spPr>
          <a:xfrm>
            <a:off x="3510116" y="776749"/>
            <a:ext cx="488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14.What is the total monthly payroll processed?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1D796B-C25B-0253-EBF8-B627602FB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66" y="1730477"/>
            <a:ext cx="9522547" cy="1012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ED1D98-E4C9-237F-1F9A-F6D673FD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636" y="4522838"/>
            <a:ext cx="2172396" cy="1120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20B301-D178-7C75-D800-8AF77A69B2DA}"/>
              </a:ext>
            </a:extLst>
          </p:cNvPr>
          <p:cNvSpPr txBox="1"/>
          <p:nvPr/>
        </p:nvSpPr>
        <p:spPr>
          <a:xfrm>
            <a:off x="8040980" y="3859162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450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57390-2CFB-7517-40EC-213EE63FB14D}"/>
              </a:ext>
            </a:extLst>
          </p:cNvPr>
          <p:cNvSpPr txBox="1"/>
          <p:nvPr/>
        </p:nvSpPr>
        <p:spPr>
          <a:xfrm>
            <a:off x="3244646" y="619432"/>
            <a:ext cx="5378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15.What is the average bonus given per department?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1098D-F3AF-1807-E298-05BB9048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88" y="1772596"/>
            <a:ext cx="4947759" cy="2199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2B04C-F514-43E3-E505-DC18F13D4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878" y="4156586"/>
            <a:ext cx="3716594" cy="14772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DCA4D3-F789-BAB2-C46C-D1C888AA54AC}"/>
              </a:ext>
            </a:extLst>
          </p:cNvPr>
          <p:cNvSpPr txBox="1"/>
          <p:nvPr/>
        </p:nvSpPr>
        <p:spPr>
          <a:xfrm>
            <a:off x="7216878" y="3694921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81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0AF5FA-1584-C853-1761-CB97566598DA}"/>
              </a:ext>
            </a:extLst>
          </p:cNvPr>
          <p:cNvSpPr txBox="1"/>
          <p:nvPr/>
        </p:nvSpPr>
        <p:spPr>
          <a:xfrm>
            <a:off x="3716593" y="462116"/>
            <a:ext cx="576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16.Which department receives the highest total bonuses?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62167-05D8-646D-2181-066DE8D2A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71" y="1626948"/>
            <a:ext cx="5078158" cy="197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2F7DC7-8605-AB1D-C116-12635338B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568" y="4226287"/>
            <a:ext cx="3677264" cy="9848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038D1A-CE0C-4D8D-638F-122953191565}"/>
              </a:ext>
            </a:extLst>
          </p:cNvPr>
          <p:cNvSpPr txBox="1"/>
          <p:nvPr/>
        </p:nvSpPr>
        <p:spPr>
          <a:xfrm>
            <a:off x="7000568" y="3764622"/>
            <a:ext cx="1514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319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6A1A1-EFE1-17BC-1E46-AD752BD5AD69}"/>
              </a:ext>
            </a:extLst>
          </p:cNvPr>
          <p:cNvSpPr txBox="1"/>
          <p:nvPr/>
        </p:nvSpPr>
        <p:spPr>
          <a:xfrm>
            <a:off x="2408903" y="599768"/>
            <a:ext cx="816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17.What is the average value of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considering leave deductions?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5A963-888D-AAE2-DC8E-F56D8C19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68" y="1787497"/>
            <a:ext cx="5483812" cy="2243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E25E6F-AE1E-2771-80AC-76B440F82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675" y="4201555"/>
            <a:ext cx="2367866" cy="1088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05A5A8-9A63-D727-E361-8C0F495B19D3}"/>
              </a:ext>
            </a:extLst>
          </p:cNvPr>
          <p:cNvSpPr txBox="1"/>
          <p:nvPr/>
        </p:nvSpPr>
        <p:spPr>
          <a:xfrm>
            <a:off x="7916675" y="3723449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372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0EF374-19CA-6FE6-4BA0-BBA65BF16873}"/>
              </a:ext>
            </a:extLst>
          </p:cNvPr>
          <p:cNvSpPr txBox="1"/>
          <p:nvPr/>
        </p:nvSpPr>
        <p:spPr>
          <a:xfrm>
            <a:off x="953730" y="1091381"/>
            <a:ext cx="9123010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</a:t>
            </a:r>
            <a:r>
              <a:rPr lang="en-US" sz="2400" b="1" u="sng" dirty="0">
                <a:solidFill>
                  <a:srgbClr val="FF0000"/>
                </a:solidFill>
              </a:rPr>
              <a:t>Key Insights</a:t>
            </a:r>
          </a:p>
          <a:p>
            <a:endParaRPr lang="en-US" sz="2400" b="1" u="sng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Some departments have more employees than others - they are likely more important or busier.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 few employees earn much higher salaries - they likely have special skills or higher positions.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Payroll is managed well - it adjusts based on employee leaves.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Certain years had more leaves taken - this could mean employees were stressed or overworked.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Promotions are happening - based on qualifications and job changes over time.</a:t>
            </a: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US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Balance the team - move people from crowded departments to ones that need more help.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Pay smartly - make sure high salaries and bonuses go to top performers.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Watch leave patterns - if too many people take leave, check if they are facing issues.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 tools - create simple reports and dashboards to track salaries, leaves, and bonuses.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Support growth - help employees grow with training and clear paths for promotions</a:t>
            </a:r>
            <a:r>
              <a:rPr lang="en-US" b="1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12845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381FD6-0B40-1AD2-38CB-1E79E90C4E34}"/>
              </a:ext>
            </a:extLst>
          </p:cNvPr>
          <p:cNvSpPr txBox="1"/>
          <p:nvPr/>
        </p:nvSpPr>
        <p:spPr>
          <a:xfrm>
            <a:off x="1219201" y="1843950"/>
            <a:ext cx="92226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Management System effectively tracks employees, salaries, leaves, and job roles in one place, making HR processes more organized and transparent.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shows that some departments have more staff and higher salaries, indicating where most of the work is concentrated.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Payroll is handled efficiently, with accurate salary deductions for leaves.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Patterns in promotions and leaves provide insights into employee growth and workload pressure.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Overall, the system supports smarter decision-making in workforce and salary management, and with a few improvements, it can further enhance efficiency and planning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827967-D869-4E3F-F1B7-3C727EFEEB38}"/>
              </a:ext>
            </a:extLst>
          </p:cNvPr>
          <p:cNvSpPr txBox="1"/>
          <p:nvPr/>
        </p:nvSpPr>
        <p:spPr>
          <a:xfrm>
            <a:off x="1219201" y="825910"/>
            <a:ext cx="2390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637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D65E9A-C223-DE48-EEAE-76ADB650658A}"/>
              </a:ext>
            </a:extLst>
          </p:cNvPr>
          <p:cNvSpPr txBox="1"/>
          <p:nvPr/>
        </p:nvSpPr>
        <p:spPr>
          <a:xfrm>
            <a:off x="993058" y="953730"/>
            <a:ext cx="2330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7B383-0F22-7BB9-2747-AE1E378D5905}"/>
              </a:ext>
            </a:extLst>
          </p:cNvPr>
          <p:cNvSpPr txBox="1"/>
          <p:nvPr/>
        </p:nvSpPr>
        <p:spPr>
          <a:xfrm>
            <a:off x="924232" y="2005780"/>
            <a:ext cx="991091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Defining correct table relationships and ensuring accurate use of foreign keys.</a:t>
            </a:r>
          </a:p>
          <a:p>
            <a:pPr fontAlgn="base"/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Maintaining data consistency with cascading updates and deletes.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complex joins for reports involving employee roles, leaves, and payroll.</a:t>
            </a:r>
          </a:p>
          <a:p>
            <a:pPr fontAlgn="base"/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all date fields follow the YYYY-MM-DD format for reliable time-based analysis.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Preventing duplicate entries using unique constraints, especially on email fields.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088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4465642" cy="118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4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</TotalTime>
  <Words>753</Words>
  <Application>Microsoft Office PowerPoint</Application>
  <PresentationFormat>Widescreen</PresentationFormat>
  <Paragraphs>83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Calibri</vt:lpstr>
      <vt:lpstr>Times New Roman</vt:lpstr>
      <vt:lpstr>Libre Baskerville</vt:lpstr>
      <vt:lpstr>Arial</vt:lpstr>
      <vt:lpstr>Lato Black</vt:lpstr>
      <vt:lpstr>Office Theme</vt:lpstr>
      <vt:lpstr>Presented By:       G. Dimpul Chandrika         B. Nityala Sri Likitha         A. Akhila</vt:lpstr>
      <vt:lpstr>PowerPoint Presentation</vt:lpstr>
      <vt:lpstr>PowerPoint Presentation</vt:lpstr>
      <vt:lpstr>Tables</vt:lpstr>
      <vt:lpstr>Tables</vt:lpstr>
      <vt:lpstr>ER Diagram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dimpul chandrika</cp:lastModifiedBy>
  <cp:revision>12</cp:revision>
  <dcterms:created xsi:type="dcterms:W3CDTF">2021-02-16T05:19:01Z</dcterms:created>
  <dcterms:modified xsi:type="dcterms:W3CDTF">2025-10-11T08:24:18Z</dcterms:modified>
</cp:coreProperties>
</file>